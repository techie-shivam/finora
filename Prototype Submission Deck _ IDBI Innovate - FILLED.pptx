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9933"/>
                </a:solidFill>
              </a:defRPr>
            </a:pPr>
            <a:r>
              <a:t>IDBI INNOVATE 2026 · TRACK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9456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UdyamAI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24612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>
                <a:solidFill>
                  <a:srgbClr val="DDE5EE"/>
                </a:solidFill>
              </a:defRPr>
            </a:pPr>
            <a:r>
              <a:t>MSME Financial Health, in real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1605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C8D2DC"/>
                </a:solidFill>
              </a:defRPr>
            </a:pPr>
            <a:r>
              <a:t>The only borrower-facing living Health Card in Indian fintech.</a:t>
            </a:r>
            <a:br/>
            <a:r>
              <a:t>Continuous scoring · Vernacular AI · Cross-lender OCEN · Audit-first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6692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DDE5EE"/>
                </a:solidFill>
              </a:defRPr>
            </a:pPr>
            <a:r>
              <a:t>Team UdyamAI · Sahan Kolluri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566928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DDE5EE"/>
                </a:solidFill>
              </a:defRPr>
            </a:pPr>
            <a:r>
              <a:t>26sahan@gmail.com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Team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Track 3 — MSME Financial Health 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11368735" cy="5029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6169"/>
                </a:solidFill>
              </a:defRPr>
            </a:pPr>
            <a:r>
              <a:t>TEAM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2763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</a:defRPr>
            </a:pPr>
            <a:r>
              <a:t>Team UdyamAI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6169"/>
                </a:solidFill>
              </a:defRPr>
            </a:pPr>
            <a:r>
              <a:t>TEAM LEADER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9631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</a:defRPr>
            </a:pPr>
            <a:r>
              <a:t>Sahan Kolluri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6169"/>
                </a:solidFill>
              </a:defRPr>
            </a:pPr>
            <a: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6499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</a:defRPr>
            </a:pPr>
            <a:r>
              <a:t>&lt;add co-founders / teammates&gt;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6169"/>
                </a:solidFill>
              </a:defRPr>
            </a:pPr>
            <a:r>
              <a:t>CONTACT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3367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</a:defRPr>
            </a:pPr>
            <a:r>
              <a:t>26sahan@gmail.com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6169"/>
                </a:solidFill>
              </a:defRPr>
            </a:pPr>
            <a: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0235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</a:defRPr>
            </a:pPr>
            <a:r>
              <a:t>Track 3 — MSME Financial Health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150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</a:defRPr>
            </a:pPr>
            <a:r>
              <a:t>AI/ML-driven Health Card aggregating alternate data (GST, UPI, AA, EPFO) and integrating with ULI / OCEN / AA ecosystems for near-real-time credit assessment.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Brief About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UdyamAI — MSME Financial Health,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11368735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</a:defRPr>
            </a:pPr>
            <a:r>
              <a:t>Every GST-registered business gets a living Health Score (0–1000) updated the same day their bank statement or GST return changes. UdyamAI aggregates AA + GST + UPI + EPFO into a four-dimensional score, explains it in Hindi/Telugu/English, tells the owner exactly what to fix this month, and pre-qualifies them across 64 lenders via ULI/OCEN — before they apply.</a:t>
            </a:r>
            <a:br/>
            <a:br/>
            <a:r>
              <a:t>Where every existing player scores you once at apply time, UdyamAI is the first borrower-facing living Health Card in Indian fintech.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383280"/>
            <a:ext cx="23774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383280"/>
            <a:ext cx="73152" cy="65836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34564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</a:defRPr>
            </a:pPr>
            <a:r>
              <a:t>₹25L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730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169"/>
                </a:solidFill>
              </a:defRPr>
            </a:pPr>
            <a:r>
              <a:t>MSME credit gap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383280"/>
            <a:ext cx="23774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3383280"/>
            <a:ext cx="73152" cy="65836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34564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</a:defRPr>
            </a:pPr>
            <a:r>
              <a:t>~14M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2112" y="3730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169"/>
                </a:solidFill>
              </a:defRPr>
            </a:pPr>
            <a:r>
              <a:t>Credit-invisible enterprises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383280"/>
            <a:ext cx="23774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3383280"/>
            <a:ext cx="73152" cy="658368"/>
          </a:xfrm>
          <a:prstGeom prst="rect">
            <a:avLst/>
          </a:prstGeom>
          <a:solidFill>
            <a:srgbClr val="FA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2" y="345643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</a:defRPr>
            </a:pPr>
            <a:r>
              <a:t>70%+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3730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169"/>
                </a:solidFill>
              </a:defRPr>
            </a:pPr>
            <a:r>
              <a:t>Current rejection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343400"/>
            <a:ext cx="11368735" cy="50292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343400"/>
            <a:ext cx="54864" cy="502920"/>
          </a:xfrm>
          <a:prstGeom prst="rect">
            <a:avLst/>
          </a:prstGeom>
          <a:solidFill>
            <a:srgbClr val="7D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DC83C"/>
                </a:solidFill>
              </a:defRPr>
            </a:pPr>
            <a:r>
              <a:t>Every existing player scores you at apply time. UdyamAI scores you continuously.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How we're different · How we solve it · USP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51560"/>
          <a:ext cx="71323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834640"/>
                <a:gridCol w="3108960"/>
              </a:tblGrid>
              <a:tr h="37229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Existing players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UdyamAI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Audience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Sell scoring engines to banks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Sell to the borrower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Score cadence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One-shot at apply time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Continuous — monthly refresh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On rejection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"Try again later"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"Here is the exact number to fix"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Lender coverage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One at a time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Pre-qualified across 64 lenders (ULI)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English-only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English + Hindi + Telugu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37229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ML transparency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Black-box XGBoost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Auditable logistic regression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18120" y="10515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5B6169"/>
                </a:solidFill>
              </a:defRPr>
            </a:pPr>
            <a:r>
              <a:t>HOW WE SOLVE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1371600"/>
            <a:ext cx="41148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1371600"/>
            <a:ext cx="320040" cy="4572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43560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</a:defRPr>
            </a:pPr>
            <a:r>
              <a:t>Removes information asymmetry via consented AA pulls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1901952"/>
            <a:ext cx="41148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901952"/>
            <a:ext cx="320040" cy="4572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</a:defRPr>
            </a:pPr>
            <a:r>
              <a:t>Quantifies every fix (+34 pts for on-time GST filing)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432303"/>
            <a:ext cx="41148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2432303"/>
            <a:ext cx="320040" cy="45720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496311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</a:defRPr>
            </a:pPr>
            <a:r>
              <a:t>Cross-lender OCEN — portable score across IDBI, SBI, HDFC+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962655"/>
            <a:ext cx="411480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2962655"/>
            <a:ext cx="320040" cy="45720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026663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1A1A1A"/>
                </a:solidFill>
              </a:defRPr>
            </a:pPr>
            <a:r>
              <a:t>Vernacular AI explains every score change in HI/TE/EN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5989320"/>
            <a:ext cx="11368735" cy="50292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5989320"/>
            <a:ext cx="54864" cy="502920"/>
          </a:xfrm>
          <a:prstGeom prst="rect">
            <a:avLst/>
          </a:prstGeom>
          <a:solidFill>
            <a:srgbClr val="7D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08076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DC83C"/>
                </a:solidFill>
              </a:defRPr>
            </a:pPr>
            <a:r>
              <a:t>USP: "The only credit dashboard where your MSME score improves before you apply."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Four capability buckets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54406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5440680" cy="384048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24712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4D Health Score (0–1000): Revenue · Compliance · Counterparty ·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Deterministic sub-scores — every point traceable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Per-lender LR calibrator (82–89% accuracy, AUC 0.72–0.79)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051560"/>
            <a:ext cx="54406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1051560"/>
            <a:ext cx="5440680" cy="384048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24712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Data (AA-native)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55448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AA consent flow — 12mo bank statements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574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GSTN FIP — GSTR-1 + GSTR-3B (24 months)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56032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UPI velocity + EPFO verification + NTC/NTB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520440"/>
            <a:ext cx="54406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3520440"/>
            <a:ext cx="544068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93592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Borrower 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02336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On-device RBI GSTIN checksum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52628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Quantified Nudge engine (–N drags, +N lifts)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292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Gemini vernacular explainer (EN / HI / TE)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3520440"/>
            <a:ext cx="544068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80760" y="3520440"/>
            <a:ext cx="5440680" cy="384048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593592"/>
            <a:ext cx="5166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Lender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02336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OCEN 4.0 LA → Lender protocol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452628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Cross-lender pre-qualification with approval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02920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• Auditable model card — coefficients in-product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End-to-end MSME credit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87187" y="1097280"/>
            <a:ext cx="1417320" cy="50292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MSME enters GSTIN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.5" y="1600200"/>
            <a:ext cx="0.0" cy="164592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98567" y="161848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" b="0">
                <a:solidFill>
                  <a:srgbClr val="5B6169"/>
                </a:solidFill>
              </a:defRPr>
            </a:pPr>
            <a:r>
              <a:t>RBI checksum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90007" y="1801368"/>
            <a:ext cx="2011680" cy="50292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Account Aggregator</a:t>
            </a:r>
            <a:br/>
            <a:r>
              <a:t>(Finvu / OneMoney)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.5" y="2304288"/>
            <a:ext cx="0.0" cy="137160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47491" y="2468880"/>
            <a:ext cx="1051560" cy="384048"/>
          </a:xfrm>
          <a:prstGeom prst="round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A1628"/>
                </a:solidFill>
              </a:defRPr>
            </a:pPr>
            <a:r>
              <a:t>AA Bank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73271.5" y="2852928"/>
            <a:ext cx="2322576.0" cy="182880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08779" y="2468880"/>
            <a:ext cx="1051560" cy="384048"/>
          </a:xfrm>
          <a:prstGeom prst="round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A1628"/>
                </a:solidFill>
              </a:defRPr>
            </a:pPr>
            <a:r>
              <a:t>GSTN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34559.5" y="2852928"/>
            <a:ext cx="1161288.0" cy="182880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70067" y="2468880"/>
            <a:ext cx="1051560" cy="384048"/>
          </a:xfrm>
          <a:prstGeom prst="round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A1628"/>
                </a:solidFill>
              </a:defRPr>
            </a:pPr>
            <a:r>
              <a:t>UPI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7.5" y="2852928"/>
            <a:ext cx="0.0" cy="182880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31355" y="2468880"/>
            <a:ext cx="1051560" cy="384048"/>
          </a:xfrm>
          <a:prstGeom prst="round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A1628"/>
                </a:solidFill>
              </a:defRPr>
            </a:pPr>
            <a:r>
              <a:t>EPFO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6095847.5" y="2852928"/>
            <a:ext cx="1161288.0" cy="182880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92643" y="2468880"/>
            <a:ext cx="1051560" cy="384048"/>
          </a:xfrm>
          <a:prstGeom prst="roundRect">
            <a:avLst/>
          </a:prstGeom>
          <a:solidFill>
            <a:srgbClr val="DD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0A1628"/>
                </a:solidFill>
              </a:defRPr>
            </a:pPr>
            <a:r>
              <a:t>Bureau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95847.5" y="2852928"/>
            <a:ext cx="2322576.0" cy="182880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98567" y="3090672"/>
            <a:ext cx="2194560" cy="502920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UdyamAI Score Engine</a:t>
            </a:r>
            <a:br/>
            <a:r>
              <a:t>4 sub-scores → 1000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5847.5" y="3593592"/>
            <a:ext cx="0.0" cy="109728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49827" y="3730752"/>
            <a:ext cx="1508760" cy="41148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Nudge engine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04207.5" y="4142232"/>
            <a:ext cx="1691640.0" cy="155448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41467" y="3730752"/>
            <a:ext cx="150876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Gemini Explainer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5847.5" y="4142232"/>
            <a:ext cx="0.0" cy="155448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33107" y="3730752"/>
            <a:ext cx="1508760" cy="41148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LR Calibrator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095847.5" y="4142232"/>
            <a:ext cx="1691640.0" cy="155448"/>
          </a:xfrm>
          <a:prstGeom prst="line">
            <a:avLst/>
          </a:prstGeom>
          <a:ln w="19050">
            <a:solidFill>
              <a:srgbClr val="5B61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346807" y="4352544"/>
            <a:ext cx="2286000" cy="438912"/>
          </a:xfrm>
          <a:prstGeom prst="roundRect">
            <a:avLst/>
          </a:prstGeom>
          <a:solidFill>
            <a:srgbClr val="7D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1A1A1A"/>
                </a:solidFill>
              </a:defRPr>
            </a:pPr>
            <a:r>
              <a:t>Pre-qualified quotes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32807.5" y="4572000"/>
            <a:ext cx="320040.0" cy="0"/>
          </a:xfrm>
          <a:prstGeom prst="line">
            <a:avLst/>
          </a:prstGeom>
          <a:ln w="19050">
            <a:solidFill>
              <a:srgbClr val="0A1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952847" y="4352544"/>
            <a:ext cx="2286000" cy="438912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OCEN 4.0 LA → Lender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38847.5" y="4572000"/>
            <a:ext cx="320040.0" cy="0"/>
          </a:xfrm>
          <a:prstGeom prst="line">
            <a:avLst/>
          </a:prstGeom>
          <a:ln w="19050">
            <a:solidFill>
              <a:srgbClr val="0A1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558887" y="4352544"/>
            <a:ext cx="2286000" cy="438912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Sanction · 24h disbursal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Wireframes / Mock Diagrams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Live prototype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37178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" y="312724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01 · Landing hero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1538" y="105156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258" y="1097280"/>
            <a:ext cx="3637178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04690" y="312724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02 · GSTIN validator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596" y="105156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6" y="1097280"/>
            <a:ext cx="3637178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4748" y="312724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03 · Dashboard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0332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49040"/>
            <a:ext cx="3637178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4632" y="577900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04 · Nudge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1538" y="370332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258" y="3749040"/>
            <a:ext cx="3637178" cy="2011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04690" y="577900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05 · Loan quotes + LR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1596" y="370332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316" y="3749040"/>
            <a:ext cx="3637178" cy="2011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24748" y="577900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06 · OCEN drawer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Layered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113687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51560"/>
            <a:ext cx="109728" cy="86868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6128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628"/>
                </a:solidFill>
              </a:defRPr>
            </a:pPr>
            <a: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23444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Next.js 14 · Tailwind · framer-motion · Vercel Edge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6344" y="1920240"/>
            <a:ext cx="0" cy="73152"/>
          </a:xfrm>
          <a:prstGeom prst="line">
            <a:avLst/>
          </a:prstGeom>
          <a:ln w="190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" y="2029968"/>
            <a:ext cx="113687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029968"/>
            <a:ext cx="10972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39696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628"/>
                </a:solidFill>
              </a:defRPr>
            </a:pPr>
            <a: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212848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/api/health-card · /api/ocen/apply — OCEN 4.0 simulation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6344" y="2898648"/>
            <a:ext cx="0" cy="73152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" y="3008376"/>
            <a:ext cx="113687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008376"/>
            <a:ext cx="109728" cy="86868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18104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628"/>
                </a:solidFill>
              </a:defRPr>
            </a:pPr>
            <a:r>
              <a:t>SCORING &amp;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191256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scoreEngine.ts · mlModel.ts (LR) · gemini.ts (EN/HI/TE)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6344" y="3877056"/>
            <a:ext cx="0" cy="73152"/>
          </a:xfrm>
          <a:prstGeom prst="line">
            <a:avLst/>
          </a:prstGeom>
          <a:ln w="19050">
            <a:solidFill>
              <a:srgbClr val="13880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1480" y="3986784"/>
            <a:ext cx="113687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986784"/>
            <a:ext cx="109728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965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628"/>
                </a:solidFill>
              </a:defRPr>
            </a:pPr>
            <a:r>
              <a:t>INTEGRATION RAILS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169664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AA (Finvu) · ULI (64 lenders) · OCEN 4.0 · Frankfurter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965192"/>
            <a:ext cx="11368735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965192"/>
            <a:ext cx="109728" cy="868680"/>
          </a:xfrm>
          <a:prstGeom prst="rect">
            <a:avLst/>
          </a:prstGeom>
          <a:solidFill>
            <a:srgbClr val="5B6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749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A1628"/>
                </a:solidFill>
              </a:defRPr>
            </a:pPr>
            <a:r>
              <a:t>DATA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4807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</a:defRPr>
            </a:pPr>
            <a:r>
              <a:t>Postgres prod · AA consent artifacts · RBI-regulated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Stack choices and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51560"/>
          <a:ext cx="111556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474720"/>
                <a:gridCol w="6400800"/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Choice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Next.js 14, TypeScript, Tailwind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Edge-fast scoring, one repo, one deploy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LLM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Gemini 1.5 Flash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Fastest vernacular HI/TE per rupee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Custom logistic regression (TS)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Auditable — RBI model-risk approvable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AA, GSTN FIP, EPFO, UPI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Regulated consented rails only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Cross-lender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ULI (RBIH) — 64 lenders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Official multi-lender rail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Loan app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OCEN 4.0 (iSPIRT)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Open standard, no lock-in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Vercel Edge + Serverless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CDN, SSL, per-second billing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Robinhood-aligned system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Editorial fintech aesthetic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Implementation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Production launch @ ~50k MSMEs/month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51560"/>
          <a:ext cx="53949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55448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One-time build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AA integration + sandbox cert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₹1.5 L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OCEN LA onboarding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₹1.0 L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Cash-flow LSTM + model risk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₹0.8 L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WhatsApp bot + KYC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₹0.7 L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Design + security audit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₹1.0 L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Total one-time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₹5.0 L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80760" y="1051560"/>
          <a:ext cx="5394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Monthly OPEX</a:t>
                      </a:r>
                    </a:p>
                  </a:txBody>
                  <a:tcPr anchor="ctr" marL="50800" marR="50800" marT="38100" marB="38100">
                    <a:solidFill>
                      <a:srgbClr val="13880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 / month</a:t>
                      </a:r>
                    </a:p>
                  </a:txBody>
                  <a:tcPr anchor="ctr" marL="50800" marR="50800" marT="38100" marB="38100">
                    <a:solidFill>
                      <a:srgbClr val="13880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Gemini flash inference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₹18k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Vercel Pro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₹6k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AA data pulls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₹15k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Storage + observability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₹8k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Total monthly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₹47k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5349240"/>
            <a:ext cx="11368735" cy="502920"/>
          </a:xfrm>
          <a:prstGeom prst="roundRect">
            <a:avLst/>
          </a:prstGeom>
          <a:solidFill>
            <a:srgbClr val="1A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5349240"/>
            <a:ext cx="54864" cy="50292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7DC83C"/>
                </a:solidFill>
              </a:defRPr>
            </a:pPr>
            <a:r>
              <a:t>&lt; ₹1 per MSME/month · Break-even: 1 bank × ₹500/converted lead × 100 leads/mo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Prototype Snapshots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Live prototype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637178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632" y="312724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01 · Landing hero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1538" y="105156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258" y="1097280"/>
            <a:ext cx="3637178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04690" y="312724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02 · GSTIN validator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1596" y="105156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6" y="1097280"/>
            <a:ext cx="3637178" cy="2011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4748" y="312724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03 · Dashboard overview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70332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49040"/>
            <a:ext cx="3637178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4632" y="577900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04 · Nudge panel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31538" y="370332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258" y="3749040"/>
            <a:ext cx="3637178" cy="2011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04690" y="577900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05 · Loan quotes + LR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1596" y="3703320"/>
            <a:ext cx="3728618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7316" y="3749040"/>
            <a:ext cx="3637178" cy="2011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24748" y="5779008"/>
            <a:ext cx="372861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0A1628"/>
                </a:solidFill>
              </a:defRPr>
            </a:pPr>
            <a:r>
              <a:t>06 · OCEN drawer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Performance &amp;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Model quality · Latency ·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51560"/>
          <a:ext cx="68580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35433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Lender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Bias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Top feature</a:t>
                      </a:r>
                    </a:p>
                  </a:txBody>
                  <a:tcPr anchor="ctr" marL="50800" marR="50800" marT="38100" marB="38100">
                    <a:solidFill>
                      <a:srgbClr val="0A162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IDBI Bank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87.3%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0.729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−0.14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Revenue Stability (+1.14)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SBI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82.8%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0.789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Compliance (+1.21)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HDFC Bank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88.8%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0.721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−0.04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Revenue Stability (+0.99)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43800" y="1051560"/>
          <a:ext cx="4114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43000"/>
                <a:gridCol w="1143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Path</a:t>
                      </a:r>
                    </a:p>
                  </a:txBody>
                  <a:tcPr anchor="ctr" marL="50800" marR="50800" marT="38100" marB="38100">
                    <a:solidFill>
                      <a:srgbClr val="13880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Cold</a:t>
                      </a:r>
                    </a:p>
                  </a:txBody>
                  <a:tcPr anchor="ctr" marL="50800" marR="50800" marT="38100" marB="38100">
                    <a:solidFill>
                      <a:srgbClr val="13880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Warm</a:t>
                      </a:r>
                    </a:p>
                  </a:txBody>
                  <a:tcPr anchor="ctr" marL="50800" marR="50800" marT="38100" marB="38100">
                    <a:solidFill>
                      <a:srgbClr val="13880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Landing /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190 ms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45 ms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Dashboard pipeline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900 ms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220 ms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/api/health-card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340 ms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60 ms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/api/ocen/apply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210 ms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45 ms</a:t>
                      </a:r>
                    </a:p>
                  </a:txBody>
                  <a:tcPr anchor="ctr" marL="50800" marR="50800" marT="38100" marB="38100">
                    <a:solidFill>
                      <a:srgbClr val="FA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1A1A1A"/>
                          </a:solidFill>
                        </a:defRPr>
                      </a:pPr>
                      <a:r>
                        <a:t>Gemini explanation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~1.4 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1A1A1A"/>
                          </a:solidFill>
                        </a:defRPr>
                      </a:pPr>
                      <a:r>
                        <a:t>~1.1 s</a:t>
                      </a:r>
                    </a:p>
                  </a:txBody>
                  <a:tcPr anchor="ctr"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3657600"/>
            <a:ext cx="23774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657600"/>
            <a:ext cx="73152" cy="658368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730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</a:defRPr>
            </a:pPr>
            <a:r>
              <a:t>10/10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400507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169"/>
                </a:solidFill>
              </a:defRPr>
            </a:pPr>
            <a:r>
              <a:t>Track-3 clauses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657600"/>
            <a:ext cx="23774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3657600"/>
            <a:ext cx="73152" cy="65836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2112" y="3730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400507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169"/>
                </a:solidFill>
              </a:defRPr>
            </a:pPr>
            <a:r>
              <a:t>Languages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657600"/>
            <a:ext cx="23774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3657600"/>
            <a:ext cx="73152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3730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</a:defRPr>
            </a:pPr>
            <a:r>
              <a:t>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400507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169"/>
                </a:solidFill>
              </a:defRPr>
            </a:pPr>
            <a:r>
              <a:t>ULI lenders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657600"/>
            <a:ext cx="237744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3657600"/>
            <a:ext cx="73152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73075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A1628"/>
                </a:solidFill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00507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B6169"/>
                </a:solidFill>
              </a:defRPr>
            </a:pPr>
            <a:r>
              <a:t>GSTIN coverage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Future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Three horizons — past Round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352044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051560"/>
            <a:ext cx="3520440" cy="457200"/>
          </a:xfrm>
          <a:prstGeom prst="round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0–6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Real AA integration (Finvu → prod)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UPI counterparty graph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90-day cash-flow 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Real OCEN LA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051560"/>
            <a:ext cx="352044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1051560"/>
            <a:ext cx="3520440" cy="457200"/>
          </a:xfrm>
          <a:prstGeom prst="round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14300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6–18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645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Khatabook / OkCredit embed (30M+ MSMEs)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3317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WhatsApp vernacular coaching 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0175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Sector cohort 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7033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UdyamAI Current Account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051560"/>
            <a:ext cx="3520440" cy="4754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18120" y="1051560"/>
            <a:ext cx="3520440" cy="457200"/>
          </a:xfrm>
          <a:prstGeom prst="round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114300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18–36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16459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RBI RegTech sandbox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3317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Insurance rail on same AA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01752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1A1A1A"/>
                </a:solidFill>
              </a:defRPr>
            </a:pPr>
            <a:r>
              <a:t>→ Indonesia · Vietnam · Bangladesh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DDE5EE"/>
                </a:solidFill>
              </a:defRPr>
            </a:pPr>
            <a:r>
              <a:t>Repository · Demo · Live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28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DE5EE"/>
                </a:solidFill>
              </a:defRPr>
            </a:pPr>
            <a:r>
              <a:t>UdyamAI · IDBI Innovate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11368735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91440" cy="1097280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</a:defRPr>
            </a:pPr>
            <a:r>
              <a:t>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</a:defRPr>
            </a:pPr>
            <a:r>
              <a:t>https://github.com/&lt;your-handle&gt;/udyamai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834640"/>
            <a:ext cx="11368735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834640"/>
            <a:ext cx="91440" cy="1097280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</a:defRPr>
            </a:pPr>
            <a:r>
              <a:t>Demo Video (3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</a:defRPr>
            </a:pPr>
            <a:r>
              <a:t>https://youtu.be/&lt;video-id&gt;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160520"/>
            <a:ext cx="11368735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4160520"/>
            <a:ext cx="9144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628"/>
                </a:solidFill>
              </a:defRPr>
            </a:pPr>
            <a:r>
              <a:t>Final Product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</a:defRPr>
            </a:pPr>
            <a:r>
              <a:t>https://udyamai.vercel.app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